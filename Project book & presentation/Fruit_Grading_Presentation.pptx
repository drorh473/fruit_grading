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0104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Shape 1"/>
          <p:cNvSpPr/>
          <p:nvPr/>
        </p:nvSpPr>
        <p:spPr>
          <a:xfrm>
            <a:off x="0" y="731520"/>
            <a:ext cx="73152" cy="22860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Fruit Grading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Data Mining and Machine Learning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1828800" cy="27432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Lidor Anfinger &amp; Dror Hershcovish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Mr. Ilya Zeldner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 Department, Braude College of Engineering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Code: 26-1-D-32  |  Capstone Phase B  </a:t>
            </a:r>
            <a:r>
              <a:rPr lang="en-US" sz="110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March </a:t>
            </a:r>
            <a:r>
              <a:rPr lang="en-US" sz="11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82296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github.com/Drorh473/fruit_grading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C1C6F1-C86A-0827-09DF-BB89FEDC45F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338" y="73328"/>
            <a:ext cx="2215662" cy="42959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4B583F-9F7D-4728-660C-C18B7C0FF798}"/>
              </a:ext>
            </a:extLst>
          </p:cNvPr>
          <p:cNvSpPr txBox="1"/>
          <p:nvPr/>
        </p:nvSpPr>
        <p:spPr>
          <a:xfrm>
            <a:off x="8619978" y="4788054"/>
            <a:ext cx="196948" cy="2308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1</a:t>
            </a:r>
            <a:endParaRPr lang="he-IL" sz="9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9601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9601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grading challenges and motivation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435608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3000" y="14356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0" y="143560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Multi-view automated inspection system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911096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548640" y="1911096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1911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Architecture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191109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stack, system design, preprocessing pipeline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38658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23865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Challenge &amp; Strategy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38658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 of dimensionality and regularization approach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862072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548640" y="286207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43000" y="286207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Demo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566160" y="286207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metrics, confusion matrix, web application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333756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43000" y="333756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566160" y="333756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128+ test cases across 5 phases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813048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2" name="Text 30"/>
          <p:cNvSpPr/>
          <p:nvPr/>
        </p:nvSpPr>
        <p:spPr>
          <a:xfrm>
            <a:off x="548640" y="3813048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143000" y="38130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66160" y="381304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learned, conclusions, next steps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4288536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143000" y="428853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566160" y="428853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1" name="Shape 39"/>
          <p:cNvSpPr/>
          <p:nvPr/>
        </p:nvSpPr>
        <p:spPr>
          <a:xfrm>
            <a:off x="457200" y="4773168"/>
            <a:ext cx="8229600" cy="1828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2" name="Shape 4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4" name="Text 42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Manual Fruit Grading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56032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production costs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labor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5156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Shape 7"/>
          <p:cNvSpPr/>
          <p:nvPr/>
        </p:nvSpPr>
        <p:spPr>
          <a:xfrm>
            <a:off x="3291840" y="1051560"/>
            <a:ext cx="256032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329184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150K+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291840" y="17830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tons of crops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unpicked in Israel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5156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Shape 11"/>
          <p:cNvSpPr/>
          <p:nvPr/>
        </p:nvSpPr>
        <p:spPr>
          <a:xfrm>
            <a:off x="6126480" y="1051560"/>
            <a:ext cx="256032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612648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$$$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17830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producers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automation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74320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is subjective, inconsistent, and slow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fatigue leads to grading errors throughout shifts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shortages create bottlenecks in supply chains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affordable automation exists for small-scale producers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fruit grading system using computer vision and machine learning for real-time quality assessment.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9776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4864" cy="1188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783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Multi-View Capture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3444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4-camera setup captures 360-degree fruit images from different angles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645920"/>
            <a:ext cx="39776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" name="Shape 8"/>
          <p:cNvSpPr/>
          <p:nvPr/>
        </p:nvSpPr>
        <p:spPr>
          <a:xfrm>
            <a:off x="4709160" y="1645920"/>
            <a:ext cx="54864" cy="1188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9202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783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CNN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8640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ShuffleNetV2 extracts features efficiently on CPU hardware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3063240"/>
            <a:ext cx="39776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54864" cy="1188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375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34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Classification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234440" y="3566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classifies into 3 grades: Premium, Standard, Market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09160" y="3063240"/>
            <a:ext cx="39776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1" name="Shape 16"/>
          <p:cNvSpPr/>
          <p:nvPr/>
        </p:nvSpPr>
        <p:spPr>
          <a:xfrm>
            <a:off x="4709160" y="3063240"/>
            <a:ext cx="54864" cy="1188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33756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8640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486400" y="3566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interface for operators and administrators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Text 21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269748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269748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28016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011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ML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42316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3.8+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(Blueprint arch.)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ShuffleNetV2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46120" y="1051560"/>
            <a:ext cx="269748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Shape 7"/>
          <p:cNvSpPr/>
          <p:nvPr/>
        </p:nvSpPr>
        <p:spPr>
          <a:xfrm>
            <a:off x="3246120" y="1051560"/>
            <a:ext cx="269748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28016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46120" y="2011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20440" y="242316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dashboard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72200" y="1051560"/>
            <a:ext cx="269748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1"/>
          <p:cNvSpPr/>
          <p:nvPr/>
        </p:nvSpPr>
        <p:spPr>
          <a:xfrm>
            <a:off x="6172200" y="1051560"/>
            <a:ext cx="269748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128016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72200" y="2011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DevOps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446520" y="242316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4.4+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(128+ tests)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version control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6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1554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3716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4-Camera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7088" y="1874520"/>
            <a:ext cx="201168" cy="20116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057400" y="1188720"/>
            <a:ext cx="1554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7168" y="1371600"/>
            <a:ext cx="640080" cy="6400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05740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Gaussian+CLAHE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874520"/>
            <a:ext cx="201168" cy="20116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840480" y="1188720"/>
            <a:ext cx="1554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137160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84048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ShuffleNetV2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</a:t>
            </a:r>
            <a:endParaRPr lang="en-US" sz="11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248" y="1874520"/>
            <a:ext cx="201168" cy="201168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5623560" y="1188720"/>
            <a:ext cx="1554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3328" y="137160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562356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+ FC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874520"/>
            <a:ext cx="201168" cy="201168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7406640" y="1188720"/>
            <a:ext cx="1554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6408" y="1371600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740664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23" name="Shape 12"/>
          <p:cNvSpPr/>
          <p:nvPr/>
        </p:nvSpPr>
        <p:spPr>
          <a:xfrm>
            <a:off x="457200" y="32918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4" name="Shape 13"/>
          <p:cNvSpPr/>
          <p:nvPr/>
        </p:nvSpPr>
        <p:spPr>
          <a:xfrm>
            <a:off x="457200" y="3291840"/>
            <a:ext cx="54864" cy="10972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Text 14"/>
          <p:cNvSpPr/>
          <p:nvPr/>
        </p:nvSpPr>
        <p:spPr>
          <a:xfrm>
            <a:off x="731520" y="33832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Pipeline: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are captured from 4 synchronized cameras, independently processed through Gaussian filtering and CLAHE enhancement, then fed into ShuffleNetV2 for feature extraction. Multi-view fusion combines all camera features before PCA reduction and classification by a fully connected neural network. Results are stored in MongoDB and displayed via the React dashboard.</a:t>
            </a:r>
            <a:endParaRPr lang="en-US" sz="1100" dirty="0"/>
          </a:p>
        </p:txBody>
      </p:sp>
      <p:sp>
        <p:nvSpPr>
          <p:cNvPr id="26" name="Shape 1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8" name="Text 17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640080" y="1161288"/>
            <a:ext cx="493776" cy="49377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40080" y="116128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0972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3990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224x224 pixels for ShuffleNetV2 input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03520" y="1161288"/>
            <a:ext cx="54864" cy="493776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5532120" y="116128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Standardizes input dimensions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" name="Shape 10"/>
          <p:cNvSpPr/>
          <p:nvPr/>
        </p:nvSpPr>
        <p:spPr>
          <a:xfrm>
            <a:off x="640080" y="2029968"/>
            <a:ext cx="493776" cy="49377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640080" y="20299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19659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25880" y="2267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5x5 kernel smooths high-frequency noise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03520" y="2029968"/>
            <a:ext cx="54864" cy="493776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5532120" y="202996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conveyor vibration artifacts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493776" cy="49377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0" name="Text 18"/>
          <p:cNvSpPr/>
          <p:nvPr/>
        </p:nvSpPr>
        <p:spPr>
          <a:xfrm>
            <a:off x="640080" y="28986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31363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limit 2.0 in LAB color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0" y="2898648"/>
            <a:ext cx="54864" cy="493776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5532120" y="289864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subtle surface defects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57600"/>
            <a:ext cx="822960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6" name="Shape 24"/>
          <p:cNvSpPr/>
          <p:nvPr/>
        </p:nvSpPr>
        <p:spPr>
          <a:xfrm>
            <a:off x="640080" y="3767328"/>
            <a:ext cx="493776" cy="49377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640080" y="37673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2588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5880" y="4005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pixel values for CNN input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303520" y="3767328"/>
            <a:ext cx="54864" cy="493776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1" name="Text 29"/>
          <p:cNvSpPr/>
          <p:nvPr/>
        </p:nvSpPr>
        <p:spPr>
          <a:xfrm>
            <a:off x="5532120" y="376732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ShuffleNetV2 requirements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4" name="Text 32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 Learning Challenge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200,704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per sample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(ShuffleNetV2 output)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06240" y="14173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484632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46320" y="1737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samples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(fruit objects)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Curse of Dimensionality: feature space vastly exceeds sample space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8046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Results: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training accuracy but only 53% test accuracy (severe overfitting)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Limitation: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21 components possible with current dataset size (n-1 rule)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Imbalance: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(9), Standard (7), Premium (6) - stratified split maintains ratios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Regularization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Reduction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200,704 -&gt; 21 components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88720" y="1709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noise dimensions, retains discriminative features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05156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4068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Regularization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4068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Lambda: 0.1 - 0.5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440680" y="1709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Penalizes large weights, prevents memorization of training set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7" name="Shape 13"/>
          <p:cNvSpPr/>
          <p:nvPr/>
        </p:nvSpPr>
        <p:spPr>
          <a:xfrm>
            <a:off x="457200" y="251460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8872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88720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0.2 - 0.3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188720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deactivates neurons during training for robustness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0916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3" name="Shape 18"/>
          <p:cNvSpPr/>
          <p:nvPr/>
        </p:nvSpPr>
        <p:spPr>
          <a:xfrm>
            <a:off x="4709160" y="251460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69748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4068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Architecture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440680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hidden_dim = 8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440680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network capacity forces learning of general patterns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2" name="Text 26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Fine-Tuning: Alternative Classification Approach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Pipeline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200,704 features per image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88720" y="1709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ShuffleNetV2 extracts raw features, requires PCA reduction and separate FC classifier. Achieved 60% test accuracy.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05156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344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40680" y="1143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Pipeline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4068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1,024 features (global avg pooling)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440680" y="1709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learning with trainable classification head. No PCA needed, leverages ImageNet pretrained weights directly.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7" name="Shape 13"/>
          <p:cNvSpPr/>
          <p:nvPr/>
        </p:nvSpPr>
        <p:spPr>
          <a:xfrm>
            <a:off x="457200" y="251460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69748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8872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88720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Flip, rotate, crop, color jitter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188720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augmentation multiplies effective dataset size, improving generalization with limited samples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09160" y="2514600"/>
            <a:ext cx="397764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3" name="Shape 18"/>
          <p:cNvSpPr/>
          <p:nvPr/>
        </p:nvSpPr>
        <p:spPr>
          <a:xfrm>
            <a:off x="4709160" y="2514600"/>
            <a:ext cx="54864" cy="12344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269748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4068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Multi-View Fusion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440680" y="28986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averaging across views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440680" y="3172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inference across 4 camera views, averaged for robust per-fruit classification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2" name="Text 26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1" name="Shape 22">
            <a:extLst>
              <a:ext uri="{FF2B5EF4-FFF2-40B4-BE49-F238E27FC236}">
                <a16:creationId xmlns:a16="http://schemas.microsoft.com/office/drawing/2014/main" id="{52D379E3-E6CF-A872-84B6-996E21D3D294}"/>
              </a:ext>
            </a:extLst>
          </p:cNvPr>
          <p:cNvSpPr/>
          <p:nvPr/>
        </p:nvSpPr>
        <p:spPr>
          <a:xfrm>
            <a:off x="372794" y="4133088"/>
            <a:ext cx="8229600" cy="41148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3" name="Text 23"/>
          <p:cNvSpPr/>
          <p:nvPr/>
        </p:nvSpPr>
        <p:spPr>
          <a:xfrm>
            <a:off x="484632" y="41330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Test accuracy improved from 53% to 80%  |  Training-test gap reduced from 47% to 20%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Performance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965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1965960" cy="45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32004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5727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8470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005840"/>
            <a:ext cx="1965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2514600" y="1005840"/>
            <a:ext cx="1965960" cy="45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251460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514600" y="15727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8470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false positives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1965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3"/>
          <p:cNvSpPr/>
          <p:nvPr/>
        </p:nvSpPr>
        <p:spPr>
          <a:xfrm>
            <a:off x="4709160" y="1005840"/>
            <a:ext cx="1965960" cy="45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470916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09160" y="15727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09160" y="18470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fruit on CPU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1005840"/>
            <a:ext cx="196596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0" name="Shape 18"/>
          <p:cNvSpPr/>
          <p:nvPr/>
        </p:nvSpPr>
        <p:spPr>
          <a:xfrm>
            <a:off x="6903720" y="1005840"/>
            <a:ext cx="1965960" cy="457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690372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128+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903720" y="15727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03720" y="18470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coverage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23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(Test Set - 10 samples)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240481"/>
              </p:ext>
            </p:extLst>
          </p:nvPr>
        </p:nvGraphicFramePr>
        <p:xfrm>
          <a:off x="457200" y="2743200"/>
          <a:ext cx="4105656" cy="14630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Pred: Market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Pred: Standard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Pred: Premium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Market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Standard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Premium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846320" y="2423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Performance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2743200"/>
          <a:ext cx="3840480" cy="14630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Class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Sensitivity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Specificity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Market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80%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Standard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3A5C"/>
                          </a:solidFill>
                        </a:rPr>
                        <a:t>Premium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62828"/>
                          </a:solidFill>
                        </a:rPr>
                        <a:t>33.3%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0" name="Text 26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- Operator 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9144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16152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1430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63040" y="14630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statistics: processed today, grade counts, recent classification results with confidence scores and timestamps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14884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Shape 7"/>
          <p:cNvSpPr/>
          <p:nvPr/>
        </p:nvSpPr>
        <p:spPr>
          <a:xfrm>
            <a:off x="457200" y="2148840"/>
            <a:ext cx="54864" cy="9144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13432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2402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Page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463040" y="25603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 (total processed, accuracy, confidence), quality distribution donut chart, interactive confusion matrix, filterable predictions table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324612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1"/>
          <p:cNvSpPr/>
          <p:nvPr/>
        </p:nvSpPr>
        <p:spPr>
          <a:xfrm>
            <a:off x="457200" y="3246120"/>
            <a:ext cx="54864" cy="9144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410712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337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Export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463040" y="3657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 with object IDs, labels, confidence scores and results. Auto-named with timestamp for offline analysis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Text 17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- Admin 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13258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Control Center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1508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status, model state, pipeline status, camera health, training/test metrics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Shape 7"/>
          <p:cNvSpPr/>
          <p:nvPr/>
        </p:nvSpPr>
        <p:spPr>
          <a:xfrm>
            <a:off x="4709160" y="1051560"/>
            <a:ext cx="54864" cy="13258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2801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Monitor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532120" y="1508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2x2 grid for 4 cameras with connection status and health indicators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60604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1"/>
          <p:cNvSpPr/>
          <p:nvPr/>
        </p:nvSpPr>
        <p:spPr>
          <a:xfrm>
            <a:off x="457200" y="2606040"/>
            <a:ext cx="54864" cy="13258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83464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280160" y="30632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6-phase execution: testing, DB setup, preprocessing, extraction, training, evaluation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2606040"/>
            <a:ext cx="397764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0" name="Shape 15"/>
          <p:cNvSpPr/>
          <p:nvPr/>
        </p:nvSpPr>
        <p:spPr>
          <a:xfrm>
            <a:off x="4709160" y="2606040"/>
            <a:ext cx="54864" cy="13258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8346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532120" y="30632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Hyperparameters, PCA components, dataset paths, DB connection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Text 20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2860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Scope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Details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</a:rPr>
                        <a:t>Phase 1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Critical Unit Tests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Preprocessing, DB operations, core functions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</a:rPr>
                        <a:t>Phase 2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ML Pipeline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Feature extraction, PCA, model training validation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</a:rPr>
                        <a:t>Phase 3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Integration Tests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End-to-end pipeline, component interaction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</a:rPr>
                        <a:t>Phase 4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API Testing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Flask endpoints, REST API validation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</a:rPr>
                        <a:t>Phase 5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Frontend Testing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</a:rPr>
                        <a:t>Manual UI testing, responsive design, error handling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52044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6" name="Text 3"/>
          <p:cNvSpPr/>
          <p:nvPr/>
        </p:nvSpPr>
        <p:spPr>
          <a:xfrm>
            <a:off x="457200" y="3566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128+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606040" y="352044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Text 6"/>
          <p:cNvSpPr/>
          <p:nvPr/>
        </p:nvSpPr>
        <p:spPr>
          <a:xfrm>
            <a:off x="2606040" y="3566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260604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Threshold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54880" y="352044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" name="Text 9"/>
          <p:cNvSpPr/>
          <p:nvPr/>
        </p:nvSpPr>
        <p:spPr>
          <a:xfrm>
            <a:off x="4754880" y="3566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75488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Phases</a:t>
            </a:r>
            <a:endParaRPr lang="en-US" sz="1100" dirty="0"/>
          </a:p>
        </p:txBody>
      </p:sp>
      <p:sp>
        <p:nvSpPr>
          <p:cNvPr id="4" name="Shape 11"/>
          <p:cNvSpPr/>
          <p:nvPr/>
        </p:nvSpPr>
        <p:spPr>
          <a:xfrm>
            <a:off x="6903720" y="352044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Text 12"/>
          <p:cNvSpPr/>
          <p:nvPr/>
        </p:nvSpPr>
        <p:spPr>
          <a:xfrm>
            <a:off x="6903720" y="3566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90372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Modes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6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Lessons Learned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4864" cy="9601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68580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Limitations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07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samples with 200,704 features created extreme curse of dimensionality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regularization (PCA + L2 + dropout) improved accuracy from 53% to 80%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709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100-200 samples for &gt;80%, 500+ for &gt;90% accuracy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54864" cy="9601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2450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regularization technique insufficient for extreme feature-to-sample ratio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651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PCA reduction, L2 penalty, dropout, and small architecture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2852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problems require aggressive, multi-layered solutions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4864" cy="96012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Text 16"/>
          <p:cNvSpPr/>
          <p:nvPr/>
        </p:nvSpPr>
        <p:spPr>
          <a:xfrm>
            <a:off x="685800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3593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monolithic design made testing and feature addition risky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794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Refactored to modular blueprint architecture with clear separation of concerns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3995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investment pays dividends throughout development lifecycle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 &amp; Conclusions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conveyor belt and camera integration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dataset to 200+ fruit samples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additional fruit types (apples, lemons)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deployment on Raspberry Pi 5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continuous processing mode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fine-tuned ShuffleNetV2 with expanded dataset (200+ samples)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Conclusions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417320"/>
            <a:ext cx="3749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ShuffleNetV2 validates lightweight CNN approach for CPU deployment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Flask-React-MongoDB stack is robust and maintainable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successfully addresses curse of dimensionality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accuracy limited by data quantity, not architecture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infrastructure is production-ready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640080" y="3794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system skeleton is validated and production-ready. Accuracy is purely a data quantity issue, not a flaw in code or architecture.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8229600" y="4663440"/>
            <a:ext cx="64008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Shape 1"/>
          <p:cNvSpPr/>
          <p:nvPr/>
        </p:nvSpPr>
        <p:spPr>
          <a:xfrm>
            <a:off x="0" y="731520"/>
            <a:ext cx="73152" cy="18288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5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828800" cy="27432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he-I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1237</Words>
  <Application>Microsoft Office PowerPoint</Application>
  <PresentationFormat>On-screen Show (16:9)</PresentationFormat>
  <Paragraphs>288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Fruit Grading Using Data Mining and Machine Learning</dc:title>
  <dc:subject>PptxGenJS Presentation</dc:subject>
  <dc:creator>Dror Hershcovish &amp; Lidor Anfinger</dc:creator>
  <cp:lastModifiedBy>Lidor Anfinger</cp:lastModifiedBy>
  <cp:revision>5</cp:revision>
  <dcterms:created xsi:type="dcterms:W3CDTF">2026-02-17T07:18:07Z</dcterms:created>
  <dcterms:modified xsi:type="dcterms:W3CDTF">2026-03-15T16:05:51Z</dcterms:modified>
</cp:coreProperties>
</file>