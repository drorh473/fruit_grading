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dor Anfinger" userId="83fa358e1e6a7b02" providerId="LiveId" clId="{E7E73950-2C38-4607-8B27-A967845F8A9C}"/>
    <pc:docChg chg="custSel modSld">
      <pc:chgData name="Lidor Anfinger" userId="83fa358e1e6a7b02" providerId="LiveId" clId="{E7E73950-2C38-4607-8B27-A967845F8A9C}" dt="2026-03-15T18:15:11.278" v="15" actId="20577"/>
      <pc:docMkLst>
        <pc:docMk/>
      </pc:docMkLst>
      <pc:sldChg chg="modSp mod">
        <pc:chgData name="Lidor Anfinger" userId="83fa358e1e6a7b02" providerId="LiveId" clId="{E7E73950-2C38-4607-8B27-A967845F8A9C}" dt="2026-03-15T18:15:11.278" v="15" actId="20577"/>
        <pc:sldMkLst>
          <pc:docMk/>
          <pc:sldMk cId="0" sldId="260"/>
        </pc:sldMkLst>
        <pc:spChg chg="mod">
          <ac:chgData name="Lidor Anfinger" userId="83fa358e1e6a7b02" providerId="LiveId" clId="{E7E73950-2C38-4607-8B27-A967845F8A9C}" dt="2026-03-15T18:15:11.278" v="15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Lidor Anfinger" userId="83fa358e1e6a7b02" providerId="LiveId" clId="{E7E73950-2C38-4607-8B27-A967845F8A9C}" dt="2026-03-15T17:48:44.226" v="14" actId="113"/>
        <pc:sldMkLst>
          <pc:docMk/>
          <pc:sldMk cId="0" sldId="265"/>
        </pc:sldMkLst>
        <pc:graphicFrameChg chg="modGraphic">
          <ac:chgData name="Lidor Anfinger" userId="83fa358e1e6a7b02" providerId="LiveId" clId="{E7E73950-2C38-4607-8B27-A967845F8A9C}" dt="2026-03-15T17:48:44.226" v="14" actId="113"/>
          <ac:graphicFrameMkLst>
            <pc:docMk/>
            <pc:sldMk cId="0" sldId="265"/>
            <ac:graphicFrameMk id="2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104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73152" cy="22860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Fruit Grading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Mining and Machine Learning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828800" cy="2743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Lidor Anfinger &amp; Dror Hershcovish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Ilya Zeldner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Department, Braude College of Engineering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Code: 26-1-D-32  |  Capstone Phase B  </a:t>
            </a:r>
            <a:r>
              <a:rPr lang="en-US" sz="110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March </a:t>
            </a: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github.com/Drorh473/fruit_grading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C1C6F1-C86A-0827-09DF-BB89FEDC45F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338" y="73328"/>
            <a:ext cx="2215662" cy="429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4B583F-9F7D-4728-660C-C18B7C0FF798}"/>
              </a:ext>
            </a:extLst>
          </p:cNvPr>
          <p:cNvSpPr txBox="1"/>
          <p:nvPr/>
        </p:nvSpPr>
        <p:spPr>
          <a:xfrm>
            <a:off x="8619978" y="4788054"/>
            <a:ext cx="196948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1</a:t>
            </a:r>
            <a:endParaRPr lang="he-IL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960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960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grading challenges and motivation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356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435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4356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automated inspection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11096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48640" y="19110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1911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19110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system design, preprocessing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386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23865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Challenge &amp; Strategy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23865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 and regularization approach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62072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548640" y="28620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28620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28620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metrics, confusion matrix, web application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33375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33375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128+ test cases across 5 phases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813048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2" name="Text 30"/>
          <p:cNvSpPr/>
          <p:nvPr/>
        </p:nvSpPr>
        <p:spPr>
          <a:xfrm>
            <a:off x="548640" y="38130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381304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6160" y="38130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learned, conclusions, next steps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28853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" y="42885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66160" y="42885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457200" y="4773168"/>
            <a:ext cx="8229600" cy="1828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4" name="Text 42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Manual Fruit Grading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production costs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labor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329184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tons of crops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unpicked in Israel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12648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producers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automation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subjective, inconsistent, and slow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fatigue leads to grading errors throughout shifts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shortages create bottlenecks in supply chains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automation exists for small-scale producers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fruit grading system using computer vision and machine learning for real-time quality assessment.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" cy="1188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Capture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4-camera setup captures 360-degree fruit images from different angles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6459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Shape 8"/>
          <p:cNvSpPr/>
          <p:nvPr/>
        </p:nvSpPr>
        <p:spPr>
          <a:xfrm>
            <a:off x="4709160" y="1645920"/>
            <a:ext cx="54864" cy="1188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202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ShuffleNetV2 extracts features efficiently on CPU hardware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54864" cy="1188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375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Classification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3444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classifies into 3 grades: Premium, Standard, Market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06324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Shape 16"/>
          <p:cNvSpPr/>
          <p:nvPr/>
        </p:nvSpPr>
        <p:spPr>
          <a:xfrm>
            <a:off x="4709160" y="3063240"/>
            <a:ext cx="54864" cy="1188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375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interface for operators and administrators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1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011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ML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4231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(Blueprint arch.)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ShuffleNetV2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5156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9748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801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011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24231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05156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6172200" y="1051560"/>
            <a:ext cx="269748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2801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011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DevOps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46520" y="24231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4.4+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(128+ tests)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6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71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4-Camera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1874520"/>
            <a:ext cx="201168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057400" y="11887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137160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5740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Gaussian+CLAHE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874520"/>
            <a:ext cx="201168" cy="20116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840480" y="11887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248" y="1371600"/>
            <a:ext cx="640080" cy="6400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4048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1874520"/>
            <a:ext cx="201168" cy="20116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623560" y="11887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1371600"/>
            <a:ext cx="640080" cy="6400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62356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FC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1874520"/>
            <a:ext cx="201168" cy="201168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406640" y="11887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408" y="1371600"/>
            <a:ext cx="640080" cy="64008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40664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4" name="Shape 13"/>
          <p:cNvSpPr/>
          <p:nvPr/>
        </p:nvSpPr>
        <p:spPr>
          <a:xfrm>
            <a:off x="457200" y="3291840"/>
            <a:ext cx="54864" cy="10972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14"/>
          <p:cNvSpPr/>
          <p:nvPr/>
        </p:nvSpPr>
        <p:spPr>
          <a:xfrm>
            <a:off x="731520" y="3383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captured from 4 synchronized cameras, independently processed through Gaussian filtering and CLAHE enhancement, then fed into ShuffleNetV2 for feature extraction. Multi-view fusion combines all camera features before PCA reduction and classification by a fully connected neural network. Results are stored in MongoDB and displayed via the React dashboard.</a:t>
            </a:r>
            <a:endParaRPr lang="en-US" sz="1100" dirty="0"/>
          </a:p>
        </p:txBody>
      </p:sp>
      <p:sp>
        <p:nvSpPr>
          <p:cNvPr id="26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Text 17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640080" y="1161288"/>
            <a:ext cx="493776" cy="49377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40080" y="1161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399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224x224 pixels for ShuffleNetV2 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161288"/>
            <a:ext cx="54864" cy="4937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532120" y="116128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input dimensions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640080" y="2029968"/>
            <a:ext cx="493776" cy="49377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40080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5x5 kernel smooths high-frequency noise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029968"/>
            <a:ext cx="54864" cy="4937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5532120" y="202996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conveyor vibration artifacts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493776" cy="49377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640080" y="2898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limit 2.0 in LAB color space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2898648"/>
            <a:ext cx="54864" cy="4937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5532120" y="289864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subtle surface defects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640080" y="3767328"/>
            <a:ext cx="493776" cy="49377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640080" y="3767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005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pixel values for CNN input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3767328"/>
            <a:ext cx="54864" cy="4937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5532120" y="376732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ShuffleNetV2 requirements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4" name="Text 32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Learning 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200,704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sample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(ShuffleNetV2 output)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(fruit objects)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Dimensionality: feature space vastly exceeds sample space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Results: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training accuracy but only 53% test accuracy (severe overfitting)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Limitation: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21 components possible with current dataset size (n-1 rule)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(9), Standard (7), Premium (6) - stratified split maintains ratios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Regularization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200,704 -&gt; 21 components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1709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noise dimensions, retains discriminative features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068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0.1 - 0.5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40680" y="1709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weights, prevents memorization of training set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5146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3"/>
          <p:cNvSpPr/>
          <p:nvPr/>
        </p:nvSpPr>
        <p:spPr>
          <a:xfrm>
            <a:off x="457200" y="2514600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8872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0.2 - 0.3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88720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deactivates neurons during training for robustness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25146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Shape 18"/>
          <p:cNvSpPr/>
          <p:nvPr/>
        </p:nvSpPr>
        <p:spPr>
          <a:xfrm>
            <a:off x="4709160" y="2514600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6974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Architecture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4068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hidden_dim = 8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40680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network capacity forces learning of general patterns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2" name="Text 26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Alternative Classification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Pipeline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200,704 features per image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1709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ShuffleNetV2 extracts raw features, requires PCA reduction and separate FC classifier. Achieved 60% test accuracy.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34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Pipeline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068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features (global avg pooling)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40680" y="1709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learning with trainable classification head. No PCA needed, leverages ImageNet pretrained weights directly.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5146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3"/>
          <p:cNvSpPr/>
          <p:nvPr/>
        </p:nvSpPr>
        <p:spPr>
          <a:xfrm>
            <a:off x="457200" y="2514600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97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8872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rotate, crop, color jitter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88720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augmentation multiplies effective dataset size, improving generalization with limited samples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25146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Shape 18"/>
          <p:cNvSpPr/>
          <p:nvPr/>
        </p:nvSpPr>
        <p:spPr>
          <a:xfrm>
            <a:off x="4709160" y="2514600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6974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Fusion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4068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averaging across views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40680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 across 4 camera views, averaged for robust per-fruit classification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2" name="Text 26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52D379E3-E6CF-A872-84B6-996E21D3D294}"/>
              </a:ext>
            </a:extLst>
          </p:cNvPr>
          <p:cNvSpPr/>
          <p:nvPr/>
        </p:nvSpPr>
        <p:spPr>
          <a:xfrm>
            <a:off x="372794" y="4133088"/>
            <a:ext cx="8229600" cy="4114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3" name="Text 23"/>
          <p:cNvSpPr/>
          <p:nvPr/>
        </p:nvSpPr>
        <p:spPr>
          <a:xfrm>
            <a:off x="484632" y="41330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Test accuracy improved from 53% to 80%  |  Training-test gap reduced from 47% to 20%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65960" cy="45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14600" y="1005840"/>
            <a:ext cx="1965960" cy="45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251460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847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 positives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1965960" cy="45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70916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847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fruit on CPU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6903720" y="1005840"/>
            <a:ext cx="1965960" cy="45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690372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1847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coverage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 - 10 samples)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240481"/>
              </p:ext>
            </p:extLst>
          </p:nvPr>
        </p:nvGraphicFramePr>
        <p:xfrm>
          <a:off x="457200" y="2743200"/>
          <a:ext cx="4105656" cy="14630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Pred: Market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Pred: Standard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Pred: Premium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Market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Standard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Premium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84632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12242"/>
              </p:ext>
            </p:extLst>
          </p:nvPr>
        </p:nvGraphicFramePr>
        <p:xfrm>
          <a:off x="4846320" y="2743200"/>
          <a:ext cx="3840480" cy="14630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Specificity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Market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83.3%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Standard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85.7%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Premium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33.3%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6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- Operator 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1615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43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1463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statistics: processed today, grade counts, recent classification results with confidence scores and timestamps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54864" cy="9144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13432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240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2560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(total processed, accuracy, confidence), quality distribution donut chart, interactive confusion matrix, filterable predictions table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457200" y="3246120"/>
            <a:ext cx="54864" cy="9144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1071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37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6576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with object IDs, labels, confidence scores and results. Auto-named with timestamp for offline analysis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Text 17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- Admin 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13258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Control Center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508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status, model state, pipeline status, camera health, training/test metrics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54864" cy="13258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Monitor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32120" y="1508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2x2 grid for 4 cameras with connection status and health indicators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606040"/>
            <a:ext cx="39776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457200" y="2606040"/>
            <a:ext cx="54864" cy="13258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346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execution: testing, DB setup, preprocessing, extraction, training, evaluation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606040"/>
            <a:ext cx="39776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Shape 15"/>
          <p:cNvSpPr/>
          <p:nvPr/>
        </p:nvSpPr>
        <p:spPr>
          <a:xfrm>
            <a:off x="4709160" y="2606040"/>
            <a:ext cx="54864" cy="13258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8346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3212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Hyperparameters, PCA components, dataset paths, DB connection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Text 20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2860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Phase 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Critical Unit Tests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Preprocessing, DB operations, core functions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Phase 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ML Pipeline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Feature extraction, PCA, model training validation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Phase 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Integration Tests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End-to-end pipeline, component interaction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Phase 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API Testing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Flask endpoints, REST API validation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Phase 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Frontend Testing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Manual UI testing, responsive design, error handling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2044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128+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352044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260604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60604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Threshold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352044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Text 9"/>
          <p:cNvSpPr/>
          <p:nvPr/>
        </p:nvSpPr>
        <p:spPr>
          <a:xfrm>
            <a:off x="475488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75488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Phases</a:t>
            </a:r>
            <a:endParaRPr lang="en-US" sz="1100" dirty="0"/>
          </a:p>
        </p:txBody>
      </p:sp>
      <p:sp>
        <p:nvSpPr>
          <p:cNvPr id="4" name="Shape 11"/>
          <p:cNvSpPr/>
          <p:nvPr/>
        </p:nvSpPr>
        <p:spPr>
          <a:xfrm>
            <a:off x="6903720" y="352044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690372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90372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6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9601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07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samples with 200,704 features created extreme curse of dimensionality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regularization (PCA + L2 + dropout) improved accuracy from 53% to 80%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709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100-200 samples for &gt;80%, 500+ for &gt;90% 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54864" cy="9601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50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regularization technique insufficient for extreme feature-to-sample ratio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PCA reduction, L2 penalty, dropout, and small architecture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852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problems require aggressive, multi-layered solutions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54864" cy="9601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6858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593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monolithic design made testing and feature addition risky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to modular blueprint architecture with clear separation of concerns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995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investment pays dividends throughout development lifecycle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conveyor belt and camera integration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to 200+ fruit samples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additional fruit types (apples, lemons)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on Raspberry Pi 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continuous processing mode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fine-tuned ShuffleNetV2 with expanded dataset (200+ samples)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4173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ShuffleNetV2 validates lightweight CNN approach for CPU deployment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Flask-React-MongoDB stack is robust and maintainable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successfully addresses curse of dimensionality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accuracy limited by data quantity, not architecture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infrastructure is production-ready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system skeleton is validated and production-ready. Accuracy is purely a data quantity issue, not a flaw in code or architecture.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8229600" y="4663440"/>
            <a:ext cx="6400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73152" cy="18288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828800" cy="2743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1235</Words>
  <Application>Microsoft Office PowerPoint</Application>
  <PresentationFormat>On-screen Show (16:9)</PresentationFormat>
  <Paragraphs>287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Fruit Grading Using Data Mining and Machine Learning</dc:title>
  <dc:subject>PptxGenJS Presentation</dc:subject>
  <dc:creator>Dror Hershcovish &amp; Lidor Anfinger</dc:creator>
  <cp:lastModifiedBy>Lidor Anfinger</cp:lastModifiedBy>
  <cp:revision>5</cp:revision>
  <dcterms:created xsi:type="dcterms:W3CDTF">2026-02-17T07:18:07Z</dcterms:created>
  <dcterms:modified xsi:type="dcterms:W3CDTF">2026-03-15T18:15:16Z</dcterms:modified>
</cp:coreProperties>
</file>