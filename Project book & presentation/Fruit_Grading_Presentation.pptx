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72" r:id="rId11"/>
    <p:sldId id="265" r:id="rId12"/>
    <p:sldId id="266" r:id="rId13"/>
    <p:sldId id="267" r:id="rId14"/>
    <p:sldId id="268" r:id="rId15"/>
    <p:sldId id="269" r:id="rId16"/>
    <p:sldId id="270" r:id="rId17"/>
    <p:sldId id="271" r:id="rId1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401040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3.png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1.png"/><Relationship Id="rId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7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" name="Shape 1"/>
          <p:cNvSpPr/>
          <p:nvPr/>
        </p:nvSpPr>
        <p:spPr>
          <a:xfrm>
            <a:off x="0" y="731520"/>
            <a:ext cx="73152" cy="2286000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Fruit Grading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D5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Data Mining and Machine Learning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48640" y="2423160"/>
            <a:ext cx="1828800" cy="27432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7" name="Text 5"/>
          <p:cNvSpPr/>
          <p:nvPr/>
        </p:nvSpPr>
        <p:spPr>
          <a:xfrm>
            <a:off x="548640" y="265176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Lidor Anfinger &amp; Dror Hershcovish</a:t>
            </a:r>
            <a:endParaRPr lang="en-US" sz="16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D5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Supervisor: Mr. Ilya Zeldner</a:t>
            </a:r>
            <a:endParaRPr lang="en-US" sz="16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D5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Engineering Department, Braude College of Engineering</a:t>
            </a:r>
            <a:endParaRPr lang="en-US" sz="16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Code: 26-1-D-32  |  Capstone Phase B  |  January 2026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9" name="Text 7"/>
          <p:cNvSpPr/>
          <p:nvPr/>
        </p:nvSpPr>
        <p:spPr>
          <a:xfrm>
            <a:off x="457200" y="4663440"/>
            <a:ext cx="8229600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5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github.com/Drorh473/fruit_grading</a:t>
            </a:r>
            <a:endParaRPr lang="en-US" sz="10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7C1C6F1-C86A-0827-09DF-BB89FEDC45FF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28338" y="73328"/>
            <a:ext cx="2215662" cy="429592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54B583F-9F7D-4728-660C-C18B7C0FF798}"/>
              </a:ext>
            </a:extLst>
          </p:cNvPr>
          <p:cNvSpPr txBox="1"/>
          <p:nvPr/>
        </p:nvSpPr>
        <p:spPr>
          <a:xfrm>
            <a:off x="8619978" y="4788054"/>
            <a:ext cx="196948" cy="2308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/>
            <a:r>
              <a:rPr lang="en-US" sz="900" dirty="0">
                <a:solidFill>
                  <a:schemeClr val="bg1"/>
                </a:solidFill>
              </a:rPr>
              <a:t>1</a:t>
            </a:r>
            <a:endParaRPr lang="he-IL" sz="9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Outline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8229600" cy="43891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5" name="Text 3"/>
          <p:cNvSpPr/>
          <p:nvPr/>
        </p:nvSpPr>
        <p:spPr>
          <a:xfrm>
            <a:off x="548640" y="960120"/>
            <a:ext cx="502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143000" y="960120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566160" y="960120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grading challenges and motivation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1435608"/>
            <a:ext cx="502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43000" y="1435608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Solution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566160" y="1435608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Multi-view automated inspection system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1911096"/>
            <a:ext cx="8229600" cy="43891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4" name="Text 12"/>
          <p:cNvSpPr/>
          <p:nvPr/>
        </p:nvSpPr>
        <p:spPr>
          <a:xfrm>
            <a:off x="548640" y="1911096"/>
            <a:ext cx="502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143000" y="1911096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&amp; Architecture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566160" y="1911096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stack, system design, preprocessing pipeline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48640" y="2386584"/>
            <a:ext cx="502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143000" y="2386584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Challenge &amp; Strategy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566160" y="2386584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Curse of dimensionality and regularization approach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2862072"/>
            <a:ext cx="8229600" cy="43891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23" name="Text 21"/>
          <p:cNvSpPr/>
          <p:nvPr/>
        </p:nvSpPr>
        <p:spPr>
          <a:xfrm>
            <a:off x="548640" y="2862072"/>
            <a:ext cx="502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143000" y="2862072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Demo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3566160" y="2862072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metrics, confusion matrix, web application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48640" y="3337560"/>
            <a:ext cx="502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143000" y="3337560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&amp; Validation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3566160" y="3337560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128+ test cases across 5 phases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57200" y="3813048"/>
            <a:ext cx="8229600" cy="43891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2" name="Text 30"/>
          <p:cNvSpPr/>
          <p:nvPr/>
        </p:nvSpPr>
        <p:spPr>
          <a:xfrm>
            <a:off x="548640" y="3813048"/>
            <a:ext cx="502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1143000" y="3813048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3566160" y="3813048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Lessons learned, conclusions, next steps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48640" y="4288536"/>
            <a:ext cx="502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1143000" y="4288536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Q&amp;A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566160" y="4288536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and discussion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57200" y="914400"/>
            <a:ext cx="8229600" cy="18288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41" name="Shape 39"/>
          <p:cNvSpPr/>
          <p:nvPr/>
        </p:nvSpPr>
        <p:spPr>
          <a:xfrm>
            <a:off x="457200" y="4773168"/>
            <a:ext cx="8229600" cy="18288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42" name="Shape 40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44" name="Text 42"/>
          <p:cNvSpPr/>
          <p:nvPr/>
        </p:nvSpPr>
        <p:spPr>
          <a:xfrm>
            <a:off x="8229600" y="4663440"/>
            <a:ext cx="640080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D5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Problem: Manual Fruit Grading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256032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560320" cy="54864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42%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57200" y="178308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production costs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to labor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91840" y="1051560"/>
            <a:ext cx="256032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9" name="Shape 7"/>
          <p:cNvSpPr/>
          <p:nvPr/>
        </p:nvSpPr>
        <p:spPr>
          <a:xfrm>
            <a:off x="3291840" y="1051560"/>
            <a:ext cx="2560320" cy="54864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0" name="Text 8"/>
          <p:cNvSpPr/>
          <p:nvPr/>
        </p:nvSpPr>
        <p:spPr>
          <a:xfrm>
            <a:off x="3291840" y="12344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150K+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3291840" y="178308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tons of crops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unpicked in Israel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26480" y="1051560"/>
            <a:ext cx="256032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13" name="Shape 11"/>
          <p:cNvSpPr/>
          <p:nvPr/>
        </p:nvSpPr>
        <p:spPr>
          <a:xfrm>
            <a:off x="6126480" y="1051560"/>
            <a:ext cx="2560320" cy="54864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4" name="Text 12"/>
          <p:cNvSpPr/>
          <p:nvPr/>
        </p:nvSpPr>
        <p:spPr>
          <a:xfrm>
            <a:off x="6126480" y="12344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$$$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6126480" y="178308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producers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lack automation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48640" y="2743200"/>
            <a:ext cx="80467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inspection is subjective, inconsistent, and slow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fatigue leads to grading errors throughout shifts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 shortages create bottlenecks in supply chains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affordable automation exists for small-scale producers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9" name="Text 17"/>
          <p:cNvSpPr/>
          <p:nvPr/>
        </p:nvSpPr>
        <p:spPr>
          <a:xfrm>
            <a:off x="8229600" y="4663440"/>
            <a:ext cx="640080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D5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Solution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2A5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automated fruit grading system using computer vision and machine learning for real-time quality assessment.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645920"/>
            <a:ext cx="397764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6" name="Shape 4"/>
          <p:cNvSpPr/>
          <p:nvPr/>
        </p:nvSpPr>
        <p:spPr>
          <a:xfrm>
            <a:off x="457200" y="1645920"/>
            <a:ext cx="54864" cy="1188720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he-IL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920240"/>
            <a:ext cx="411480" cy="4114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34440" y="17830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Multi-View Capture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234440" y="21488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4-camera setup captures 360-degree fruit images from different angles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709160" y="1645920"/>
            <a:ext cx="397764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11" name="Shape 8"/>
          <p:cNvSpPr/>
          <p:nvPr/>
        </p:nvSpPr>
        <p:spPr>
          <a:xfrm>
            <a:off x="4709160" y="1645920"/>
            <a:ext cx="54864" cy="1188720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he-IL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1920240"/>
            <a:ext cx="411480" cy="4114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486400" y="17830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Lightweight CNN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5486400" y="21488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ShuffleNetV2 extracts features efficiently on CPU hardware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457200" y="3063240"/>
            <a:ext cx="397764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16" name="Shape 12"/>
          <p:cNvSpPr/>
          <p:nvPr/>
        </p:nvSpPr>
        <p:spPr>
          <a:xfrm>
            <a:off x="457200" y="3063240"/>
            <a:ext cx="54864" cy="1188720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he-IL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3337560"/>
            <a:ext cx="411480" cy="41148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234440" y="32004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Classification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1234440" y="356616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Neural network classifies into 3 grades: Premium, Standard, Market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4709160" y="3063240"/>
            <a:ext cx="397764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21" name="Shape 16"/>
          <p:cNvSpPr/>
          <p:nvPr/>
        </p:nvSpPr>
        <p:spPr>
          <a:xfrm>
            <a:off x="4709160" y="3063240"/>
            <a:ext cx="54864" cy="1188720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he-IL"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337560"/>
            <a:ext cx="411480" cy="41148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5486400" y="32004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Dashboard</a:t>
            </a:r>
            <a:endParaRPr lang="en-US" sz="1400" dirty="0"/>
          </a:p>
        </p:txBody>
      </p:sp>
      <p:sp>
        <p:nvSpPr>
          <p:cNvPr id="24" name="Text 18"/>
          <p:cNvSpPr/>
          <p:nvPr/>
        </p:nvSpPr>
        <p:spPr>
          <a:xfrm>
            <a:off x="5486400" y="356616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interface for operators and administrators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27" name="Text 21"/>
          <p:cNvSpPr/>
          <p:nvPr/>
        </p:nvSpPr>
        <p:spPr>
          <a:xfrm>
            <a:off x="8229600" y="4663440"/>
            <a:ext cx="640080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D5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Stack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1051560"/>
            <a:ext cx="2697480" cy="33375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5" name="Shape 3"/>
          <p:cNvSpPr/>
          <p:nvPr/>
        </p:nvSpPr>
        <p:spPr>
          <a:xfrm>
            <a:off x="320040" y="1051560"/>
            <a:ext cx="2697480" cy="54864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he-IL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280160"/>
            <a:ext cx="640080" cy="6400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20040" y="201168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&amp; ML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94360" y="2423160"/>
            <a:ext cx="21945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3.8+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 (Blueprint arch.)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OpenCV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ShuffleNetV2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246120" y="1051560"/>
            <a:ext cx="2697480" cy="33375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10" name="Shape 7"/>
          <p:cNvSpPr/>
          <p:nvPr/>
        </p:nvSpPr>
        <p:spPr>
          <a:xfrm>
            <a:off x="3246120" y="1051560"/>
            <a:ext cx="2697480" cy="54864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he-IL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6240" y="1280160"/>
            <a:ext cx="640080" cy="6400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246120" y="201168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3520440" y="2423160"/>
            <a:ext cx="21945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Vite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access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dashboard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Responsive design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172200" y="1051560"/>
            <a:ext cx="2697480" cy="33375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15" name="Shape 11"/>
          <p:cNvSpPr/>
          <p:nvPr/>
        </p:nvSpPr>
        <p:spPr>
          <a:xfrm>
            <a:off x="6172200" y="1051560"/>
            <a:ext cx="2697480" cy="54864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he-IL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2320" y="1280160"/>
            <a:ext cx="640080" cy="64008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172200" y="201168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DevOps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6446520" y="2423160"/>
            <a:ext cx="21945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4.4+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 (128+ tests)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version control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21" name="Text 16"/>
          <p:cNvSpPr/>
          <p:nvPr/>
        </p:nvSpPr>
        <p:spPr>
          <a:xfrm>
            <a:off x="8229600" y="4663440"/>
            <a:ext cx="640080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D5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1188720"/>
            <a:ext cx="155448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1371600"/>
            <a:ext cx="640080" cy="6400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74320" y="214884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4-Camera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</a:t>
            </a:r>
            <a:endParaRPr lang="en-US" sz="11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7088" y="1874520"/>
            <a:ext cx="201168" cy="201168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2057400" y="1188720"/>
            <a:ext cx="155448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87168" y="1371600"/>
            <a:ext cx="640080" cy="64008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2057400" y="214884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Gaussian+CLAHE</a:t>
            </a:r>
            <a:endParaRPr lang="en-US" sz="110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30168" y="1874520"/>
            <a:ext cx="201168" cy="201168"/>
          </a:xfrm>
          <a:prstGeom prst="rect">
            <a:avLst/>
          </a:prstGeom>
        </p:spPr>
      </p:pic>
      <p:sp>
        <p:nvSpPr>
          <p:cNvPr id="12" name="Shape 6"/>
          <p:cNvSpPr/>
          <p:nvPr/>
        </p:nvSpPr>
        <p:spPr>
          <a:xfrm>
            <a:off x="3840480" y="1188720"/>
            <a:ext cx="155448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70248" y="1371600"/>
            <a:ext cx="640080" cy="640080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3840480" y="214884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ShuffleNetV2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Extract</a:t>
            </a:r>
            <a:endParaRPr lang="en-US" sz="1100" dirty="0"/>
          </a:p>
        </p:txBody>
      </p:sp>
      <p:pic>
        <p:nvPicPr>
          <p:cNvPr id="15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13248" y="1874520"/>
            <a:ext cx="201168" cy="201168"/>
          </a:xfrm>
          <a:prstGeom prst="rect">
            <a:avLst/>
          </a:prstGeom>
        </p:spPr>
      </p:pic>
      <p:sp>
        <p:nvSpPr>
          <p:cNvPr id="16" name="Shape 8"/>
          <p:cNvSpPr/>
          <p:nvPr/>
        </p:nvSpPr>
        <p:spPr>
          <a:xfrm>
            <a:off x="5623560" y="1188720"/>
            <a:ext cx="155448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pic>
        <p:nvPicPr>
          <p:cNvPr id="17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53328" y="1371600"/>
            <a:ext cx="640080" cy="640080"/>
          </a:xfrm>
          <a:prstGeom prst="rect">
            <a:avLst/>
          </a:prstGeom>
        </p:spPr>
      </p:pic>
      <p:sp>
        <p:nvSpPr>
          <p:cNvPr id="18" name="Text 9"/>
          <p:cNvSpPr/>
          <p:nvPr/>
        </p:nvSpPr>
        <p:spPr>
          <a:xfrm>
            <a:off x="5623560" y="214884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+ FC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</a:t>
            </a:r>
            <a:endParaRPr lang="en-US" sz="1100" dirty="0"/>
          </a:p>
        </p:txBody>
      </p:sp>
      <p:pic>
        <p:nvPicPr>
          <p:cNvPr id="19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6328" y="1874520"/>
            <a:ext cx="201168" cy="201168"/>
          </a:xfrm>
          <a:prstGeom prst="rect">
            <a:avLst/>
          </a:prstGeom>
        </p:spPr>
      </p:pic>
      <p:sp>
        <p:nvSpPr>
          <p:cNvPr id="20" name="Shape 10"/>
          <p:cNvSpPr/>
          <p:nvPr/>
        </p:nvSpPr>
        <p:spPr>
          <a:xfrm>
            <a:off x="7406640" y="1188720"/>
            <a:ext cx="155448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pic>
        <p:nvPicPr>
          <p:cNvPr id="21" name="Image 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36408" y="1371600"/>
            <a:ext cx="640080" cy="640080"/>
          </a:xfrm>
          <a:prstGeom prst="rect">
            <a:avLst/>
          </a:prstGeom>
        </p:spPr>
      </p:pic>
      <p:sp>
        <p:nvSpPr>
          <p:cNvPr id="22" name="Text 11"/>
          <p:cNvSpPr/>
          <p:nvPr/>
        </p:nvSpPr>
        <p:spPr>
          <a:xfrm>
            <a:off x="7406640" y="214884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100" dirty="0"/>
          </a:p>
        </p:txBody>
      </p:sp>
      <p:sp>
        <p:nvSpPr>
          <p:cNvPr id="23" name="Shape 12"/>
          <p:cNvSpPr/>
          <p:nvPr/>
        </p:nvSpPr>
        <p:spPr>
          <a:xfrm>
            <a:off x="457200" y="3291840"/>
            <a:ext cx="822960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24" name="Shape 13"/>
          <p:cNvSpPr/>
          <p:nvPr/>
        </p:nvSpPr>
        <p:spPr>
          <a:xfrm>
            <a:off x="457200" y="3291840"/>
            <a:ext cx="54864" cy="1097280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25" name="Text 14"/>
          <p:cNvSpPr/>
          <p:nvPr/>
        </p:nvSpPr>
        <p:spPr>
          <a:xfrm>
            <a:off x="731520" y="338328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Pipeline: </a:t>
            </a: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Images are captured from 4 synchronized cameras, independently processed through Gaussian filtering and CLAHE enhancement, then fed into ShuffleNetV2 for feature extraction. Multi-view fusion combines all camera features before PCA reduction and classification by a fully connected neural network. Results are stored in MongoDB and displayed via the React dashboard.</a:t>
            </a:r>
            <a:endParaRPr lang="en-US" sz="1100" dirty="0"/>
          </a:p>
        </p:txBody>
      </p:sp>
      <p:sp>
        <p:nvSpPr>
          <p:cNvPr id="26" name="Shape 15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28" name="Text 17"/>
          <p:cNvSpPr/>
          <p:nvPr/>
        </p:nvSpPr>
        <p:spPr>
          <a:xfrm>
            <a:off x="8229600" y="4663440"/>
            <a:ext cx="640080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D5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 Pipeline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8229600" cy="713232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5" name="Shape 3"/>
          <p:cNvSpPr/>
          <p:nvPr/>
        </p:nvSpPr>
        <p:spPr>
          <a:xfrm>
            <a:off x="640080" y="1161288"/>
            <a:ext cx="493776" cy="493776"/>
          </a:xfrm>
          <a:prstGeom prst="ellipse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6" name="Text 4"/>
          <p:cNvSpPr/>
          <p:nvPr/>
        </p:nvSpPr>
        <p:spPr>
          <a:xfrm>
            <a:off x="640080" y="116128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25880" y="10972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Resize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25880" y="139903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to 224x224 pixels for ShuffleNetV2 input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303520" y="1161288"/>
            <a:ext cx="54864" cy="493776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0" name="Text 8"/>
          <p:cNvSpPr/>
          <p:nvPr/>
        </p:nvSpPr>
        <p:spPr>
          <a:xfrm>
            <a:off x="5532120" y="1161288"/>
            <a:ext cx="2926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2A5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Standardizes input dimensions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920240"/>
            <a:ext cx="8229600" cy="713232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12" name="Shape 10"/>
          <p:cNvSpPr/>
          <p:nvPr/>
        </p:nvSpPr>
        <p:spPr>
          <a:xfrm>
            <a:off x="640080" y="2029968"/>
            <a:ext cx="493776" cy="493776"/>
          </a:xfrm>
          <a:prstGeom prst="ellipse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3" name="Text 11"/>
          <p:cNvSpPr/>
          <p:nvPr/>
        </p:nvSpPr>
        <p:spPr>
          <a:xfrm>
            <a:off x="640080" y="202996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325880" y="196596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Gaussian Blur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25880" y="226771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5x5 kernel smooths high-frequency noise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303520" y="2029968"/>
            <a:ext cx="54864" cy="493776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7" name="Text 15"/>
          <p:cNvSpPr/>
          <p:nvPr/>
        </p:nvSpPr>
        <p:spPr>
          <a:xfrm>
            <a:off x="5532120" y="2029968"/>
            <a:ext cx="2926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2A5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Removes conveyor vibration artifacts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2788920"/>
            <a:ext cx="8229600" cy="713232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19" name="Shape 17"/>
          <p:cNvSpPr/>
          <p:nvPr/>
        </p:nvSpPr>
        <p:spPr>
          <a:xfrm>
            <a:off x="640080" y="2898648"/>
            <a:ext cx="493776" cy="493776"/>
          </a:xfrm>
          <a:prstGeom prst="ellipse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20" name="Text 18"/>
          <p:cNvSpPr/>
          <p:nvPr/>
        </p:nvSpPr>
        <p:spPr>
          <a:xfrm>
            <a:off x="640080" y="28986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325880" y="28346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CLAHE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325880" y="313639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 limit 2.0 in LAB color space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303520" y="2898648"/>
            <a:ext cx="54864" cy="493776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24" name="Text 22"/>
          <p:cNvSpPr/>
          <p:nvPr/>
        </p:nvSpPr>
        <p:spPr>
          <a:xfrm>
            <a:off x="5532120" y="2898648"/>
            <a:ext cx="2926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2A5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Reveals subtle surface defects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3657600"/>
            <a:ext cx="8229600" cy="713232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26" name="Shape 24"/>
          <p:cNvSpPr/>
          <p:nvPr/>
        </p:nvSpPr>
        <p:spPr>
          <a:xfrm>
            <a:off x="640080" y="3767328"/>
            <a:ext cx="493776" cy="493776"/>
          </a:xfrm>
          <a:prstGeom prst="ellipse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27" name="Text 25"/>
          <p:cNvSpPr/>
          <p:nvPr/>
        </p:nvSpPr>
        <p:spPr>
          <a:xfrm>
            <a:off x="640080" y="376732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325880" y="37033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Normalize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1325880" y="400507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pixel values for CNN input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303520" y="3767328"/>
            <a:ext cx="54864" cy="493776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1" name="Text 29"/>
          <p:cNvSpPr/>
          <p:nvPr/>
        </p:nvSpPr>
        <p:spPr>
          <a:xfrm>
            <a:off x="5532120" y="3767328"/>
            <a:ext cx="2926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2A5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Matches ShuffleNetV2 requirements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4" name="Text 32"/>
          <p:cNvSpPr/>
          <p:nvPr/>
        </p:nvSpPr>
        <p:spPr>
          <a:xfrm>
            <a:off x="8229600" y="4663440"/>
            <a:ext cx="640080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D5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Machine Learning Challenge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384048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200,704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457200" y="173736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per sample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(ShuffleNetV2 output)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206240" y="141732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846320" y="1051560"/>
            <a:ext cx="384048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9" name="Text 7"/>
          <p:cNvSpPr/>
          <p:nvPr/>
        </p:nvSpPr>
        <p:spPr>
          <a:xfrm>
            <a:off x="4846320" y="109728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4846320" y="173736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samples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(fruit objects)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651760"/>
            <a:ext cx="8229600" cy="5029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2" name="Text 10"/>
          <p:cNvSpPr/>
          <p:nvPr/>
        </p:nvSpPr>
        <p:spPr>
          <a:xfrm>
            <a:off x="457200" y="2651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Curse of Dimensionality: feature space vastly exceeds sample space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" y="3337560"/>
            <a:ext cx="8046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 Results: </a:t>
            </a: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training accuracy but only 53% test accuracy (severe overfitting)</a:t>
            </a:r>
            <a:endParaRPr lang="en-US" sz="12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Limitation: </a:t>
            </a: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Maximum 21 components possible with current dataset size (n-1 rule)</a:t>
            </a:r>
            <a:endParaRPr lang="en-US" sz="12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Imbalance: </a:t>
            </a: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(9), Standard (7), Premium (6) - stratified split maintains ratios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6" name="Text 14"/>
          <p:cNvSpPr/>
          <p:nvPr/>
        </p:nvSpPr>
        <p:spPr>
          <a:xfrm>
            <a:off x="8229600" y="4663440"/>
            <a:ext cx="640080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D5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Multi-Layer Regularization Strategy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3977640" cy="12344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54864" cy="1234440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he-IL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234440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88720" y="1143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Reduction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188720" y="143560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200,704 -&gt; 21 components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188720" y="170992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Eliminates noise dimensions, retains discriminative features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709160" y="1051560"/>
            <a:ext cx="3977640" cy="12344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11" name="Shape 8"/>
          <p:cNvSpPr/>
          <p:nvPr/>
        </p:nvSpPr>
        <p:spPr>
          <a:xfrm>
            <a:off x="4709160" y="1051560"/>
            <a:ext cx="54864" cy="1234440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he-IL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123444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440680" y="1143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 Regularization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5440680" y="143560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Lambda: 0.1 - 0.5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5440680" y="170992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Penalizes large weights, prevents memorization of training set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457200" y="2514600"/>
            <a:ext cx="3977640" cy="12344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17" name="Shape 13"/>
          <p:cNvSpPr/>
          <p:nvPr/>
        </p:nvSpPr>
        <p:spPr>
          <a:xfrm>
            <a:off x="457200" y="2514600"/>
            <a:ext cx="54864" cy="1234440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he-IL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365760" cy="36576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188720" y="26060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Dropout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1188720" y="289864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Rate: 0.2 - 0.3</a:t>
            </a:r>
            <a:endParaRPr lang="en-US" sz="1200" dirty="0"/>
          </a:p>
        </p:txBody>
      </p:sp>
      <p:sp>
        <p:nvSpPr>
          <p:cNvPr id="21" name="Text 16"/>
          <p:cNvSpPr/>
          <p:nvPr/>
        </p:nvSpPr>
        <p:spPr>
          <a:xfrm>
            <a:off x="1188720" y="317296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Randomly deactivates neurons during training for robustness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4709160" y="2514600"/>
            <a:ext cx="3977640" cy="12344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23" name="Shape 18"/>
          <p:cNvSpPr/>
          <p:nvPr/>
        </p:nvSpPr>
        <p:spPr>
          <a:xfrm>
            <a:off x="4709160" y="2514600"/>
            <a:ext cx="54864" cy="1234440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he-IL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2697480"/>
            <a:ext cx="365760" cy="36576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5440680" y="26060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Architecture</a:t>
            </a:r>
            <a:endParaRPr lang="en-US" sz="1400" dirty="0"/>
          </a:p>
        </p:txBody>
      </p:sp>
      <p:sp>
        <p:nvSpPr>
          <p:cNvPr id="26" name="Text 20"/>
          <p:cNvSpPr/>
          <p:nvPr/>
        </p:nvSpPr>
        <p:spPr>
          <a:xfrm>
            <a:off x="5440680" y="289864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hidden_dim = 8</a:t>
            </a:r>
            <a:endParaRPr lang="en-US" sz="1200" dirty="0"/>
          </a:p>
        </p:txBody>
      </p:sp>
      <p:sp>
        <p:nvSpPr>
          <p:cNvPr id="27" name="Text 21"/>
          <p:cNvSpPr/>
          <p:nvPr/>
        </p:nvSpPr>
        <p:spPr>
          <a:xfrm>
            <a:off x="5440680" y="317296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 network capacity forces learning of general patterns</a:t>
            </a:r>
            <a:endParaRPr lang="en-US" sz="1100" dirty="0"/>
          </a:p>
        </p:txBody>
      </p:sp>
      <p:sp>
        <p:nvSpPr>
          <p:cNvPr id="30" name="Shape 24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2" name="Text 26"/>
          <p:cNvSpPr/>
          <p:nvPr/>
        </p:nvSpPr>
        <p:spPr>
          <a:xfrm>
            <a:off x="8229600" y="4663440"/>
            <a:ext cx="640080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D5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Fine-Tuning: Alternative Classification Approach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3977640" cy="12344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54864" cy="1234440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he-IL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234440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88720" y="1143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Pipeline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188720" y="143560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200,704 features per image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188720" y="170992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Frozen ShuffleNetV2 extracts raw features, requires PCA reduction and separate FC classifier. Achieved 60% test accuracy.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709160" y="1051560"/>
            <a:ext cx="3977640" cy="12344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11" name="Shape 8"/>
          <p:cNvSpPr/>
          <p:nvPr/>
        </p:nvSpPr>
        <p:spPr>
          <a:xfrm>
            <a:off x="4709160" y="1051560"/>
            <a:ext cx="54864" cy="1234440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he-IL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0" y="123444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440680" y="1143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Fine-Tuned Pipeline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5440680" y="143560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1,024 features (global avg pooling)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5440680" y="170992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learning with trainable classification head. No PCA needed, leverages ImageNet pretrained weights directly.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457200" y="2514600"/>
            <a:ext cx="3977640" cy="12344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17" name="Shape 13"/>
          <p:cNvSpPr/>
          <p:nvPr/>
        </p:nvSpPr>
        <p:spPr>
          <a:xfrm>
            <a:off x="457200" y="2514600"/>
            <a:ext cx="54864" cy="1234440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he-IL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2697480"/>
            <a:ext cx="365760" cy="36576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188720" y="26060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Augmentation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1188720" y="289864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Flip, rotate, crop, color jitter</a:t>
            </a:r>
            <a:endParaRPr lang="en-US" sz="1200" dirty="0"/>
          </a:p>
        </p:txBody>
      </p:sp>
      <p:sp>
        <p:nvSpPr>
          <p:cNvPr id="21" name="Text 16"/>
          <p:cNvSpPr/>
          <p:nvPr/>
        </p:nvSpPr>
        <p:spPr>
          <a:xfrm>
            <a:off x="1188720" y="317296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Aggressive augmentation multiplies effective dataset size, improving generalization with limited samples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4709160" y="2514600"/>
            <a:ext cx="3977640" cy="12344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23" name="Shape 18"/>
          <p:cNvSpPr/>
          <p:nvPr/>
        </p:nvSpPr>
        <p:spPr>
          <a:xfrm>
            <a:off x="4709160" y="2514600"/>
            <a:ext cx="54864" cy="1234440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he-IL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37760" y="2697480"/>
            <a:ext cx="365760" cy="36576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5440680" y="26060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Multi-View Fusion</a:t>
            </a:r>
            <a:endParaRPr lang="en-US" sz="1400" dirty="0"/>
          </a:p>
        </p:txBody>
      </p:sp>
      <p:sp>
        <p:nvSpPr>
          <p:cNvPr id="26" name="Text 20"/>
          <p:cNvSpPr/>
          <p:nvPr/>
        </p:nvSpPr>
        <p:spPr>
          <a:xfrm>
            <a:off x="5440680" y="289864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Probability averaging across views</a:t>
            </a:r>
            <a:endParaRPr lang="en-US" sz="1200" dirty="0"/>
          </a:p>
        </p:txBody>
      </p:sp>
      <p:sp>
        <p:nvSpPr>
          <p:cNvPr id="27" name="Text 21"/>
          <p:cNvSpPr/>
          <p:nvPr/>
        </p:nvSpPr>
        <p:spPr>
          <a:xfrm>
            <a:off x="5440680" y="317296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inference across 4 camera views, averaged for robust per-fruit classification</a:t>
            </a:r>
            <a:endParaRPr lang="en-US" sz="1100" dirty="0"/>
          </a:p>
        </p:txBody>
      </p:sp>
      <p:sp>
        <p:nvSpPr>
          <p:cNvPr id="30" name="Shape 24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2" name="Text 26"/>
          <p:cNvSpPr/>
          <p:nvPr/>
        </p:nvSpPr>
        <p:spPr>
          <a:xfrm>
            <a:off x="8229600" y="4663440"/>
            <a:ext cx="640080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D5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31" name="Shape 22">
            <a:extLst>
              <a:ext uri="{FF2B5EF4-FFF2-40B4-BE49-F238E27FC236}">
                <a16:creationId xmlns:a16="http://schemas.microsoft.com/office/drawing/2014/main" id="{52D379E3-E6CF-A872-84B6-996E21D3D294}"/>
              </a:ext>
            </a:extLst>
          </p:cNvPr>
          <p:cNvSpPr/>
          <p:nvPr/>
        </p:nvSpPr>
        <p:spPr>
          <a:xfrm>
            <a:off x="372794" y="4133088"/>
            <a:ext cx="8229600" cy="41148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3" name="Text 23"/>
          <p:cNvSpPr/>
          <p:nvPr/>
        </p:nvSpPr>
        <p:spPr>
          <a:xfrm>
            <a:off x="484632" y="413308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Test accuracy improved from 53% to 80%  |  Training-test gap reduced from 47% to 20%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Performance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1005840"/>
            <a:ext cx="1965960" cy="12344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5" name="Shape 3"/>
          <p:cNvSpPr/>
          <p:nvPr/>
        </p:nvSpPr>
        <p:spPr>
          <a:xfrm>
            <a:off x="320040" y="1005840"/>
            <a:ext cx="1965960" cy="45720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6" name="Text 4"/>
          <p:cNvSpPr/>
          <p:nvPr/>
        </p:nvSpPr>
        <p:spPr>
          <a:xfrm>
            <a:off x="320040" y="109728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320040" y="1572768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Accuracy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20040" y="184708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75%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514600" y="1005840"/>
            <a:ext cx="1965960" cy="12344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10" name="Shape 8"/>
          <p:cNvSpPr/>
          <p:nvPr/>
        </p:nvSpPr>
        <p:spPr>
          <a:xfrm>
            <a:off x="2514600" y="1005840"/>
            <a:ext cx="1965960" cy="45720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1" name="Text 9"/>
          <p:cNvSpPr/>
          <p:nvPr/>
        </p:nvSpPr>
        <p:spPr>
          <a:xfrm>
            <a:off x="2514600" y="109728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89.7%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2514600" y="1572768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Specificity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514600" y="184708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false positives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1965960" cy="12344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15" name="Shape 13"/>
          <p:cNvSpPr/>
          <p:nvPr/>
        </p:nvSpPr>
        <p:spPr>
          <a:xfrm>
            <a:off x="4709160" y="1005840"/>
            <a:ext cx="1965960" cy="45720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6" name="Text 14"/>
          <p:cNvSpPr/>
          <p:nvPr/>
        </p:nvSpPr>
        <p:spPr>
          <a:xfrm>
            <a:off x="4709160" y="109728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&lt;5s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4709160" y="1572768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Processing Time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709160" y="184708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fruit on CPU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903720" y="1005840"/>
            <a:ext cx="1965960" cy="12344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20" name="Shape 18"/>
          <p:cNvSpPr/>
          <p:nvPr/>
        </p:nvSpPr>
        <p:spPr>
          <a:xfrm>
            <a:off x="6903720" y="1005840"/>
            <a:ext cx="1965960" cy="45720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21" name="Text 19"/>
          <p:cNvSpPr/>
          <p:nvPr/>
        </p:nvSpPr>
        <p:spPr>
          <a:xfrm>
            <a:off x="6903720" y="109728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128+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6903720" y="1572768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Cases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903720" y="184708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coverage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57200" y="242316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Confusion Matrix (Test Set - 10 samples)</a:t>
            </a:r>
            <a:endParaRPr lang="en-US" sz="13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8240481"/>
              </p:ext>
            </p:extLst>
          </p:nvPr>
        </p:nvGraphicFramePr>
        <p:xfrm>
          <a:off x="457200" y="2743200"/>
          <a:ext cx="4105656" cy="1463040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32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332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332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Pred: Market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Pred: Standard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Pred: Premium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B3A5C"/>
                          </a:solidFill>
                        </a:rPr>
                        <a:t>Market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8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333333"/>
                          </a:solidFill>
                        </a:rPr>
                        <a:t>4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0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0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B3A5C"/>
                          </a:solidFill>
                        </a:rPr>
                        <a:t>Standard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8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0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333333"/>
                          </a:solidFill>
                        </a:rPr>
                        <a:t>3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0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B3A5C"/>
                          </a:solidFill>
                        </a:rPr>
                        <a:t>Premium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8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6C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6" name="Text 23"/>
          <p:cNvSpPr/>
          <p:nvPr/>
        </p:nvSpPr>
        <p:spPr>
          <a:xfrm>
            <a:off x="4846320" y="24231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Per-Class Performance</a:t>
            </a:r>
            <a:endParaRPr lang="en-US" sz="1300" dirty="0"/>
          </a:p>
        </p:txBody>
      </p:sp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46320" y="2743200"/>
          <a:ext cx="3840480" cy="1463040"/>
        </p:xfrm>
        <a:graphic>
          <a:graphicData uri="http://schemas.openxmlformats.org/drawingml/2006/table">
            <a:tbl>
              <a:tblPr/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Class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Sensitivity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Specificity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B3A5C"/>
                          </a:solidFill>
                        </a:rPr>
                        <a:t>Market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8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</a:rPr>
                        <a:t>100%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80%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B3A5C"/>
                          </a:solidFill>
                        </a:rPr>
                        <a:t>Standard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8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</a:rPr>
                        <a:t>100%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</a:rPr>
                        <a:t>100%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B3A5C"/>
                          </a:solidFill>
                        </a:rPr>
                        <a:t>Premium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8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C62828"/>
                          </a:solidFill>
                        </a:rPr>
                        <a:t>33.3%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</a:rPr>
                        <a:t>100%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8" name="Shape 24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0" name="Text 26"/>
          <p:cNvSpPr/>
          <p:nvPr/>
        </p:nvSpPr>
        <p:spPr>
          <a:xfrm>
            <a:off x="8229600" y="4663440"/>
            <a:ext cx="640080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D5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Application - Operator View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822960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54864" cy="914400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he-IL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216152"/>
            <a:ext cx="548640" cy="5486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63040" y="114300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463040" y="146304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statistics: processed today, grade counts, recent classification results with confidence scores and timestamps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57200" y="2148840"/>
            <a:ext cx="822960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10" name="Shape 7"/>
          <p:cNvSpPr/>
          <p:nvPr/>
        </p:nvSpPr>
        <p:spPr>
          <a:xfrm>
            <a:off x="457200" y="2148840"/>
            <a:ext cx="54864" cy="914400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he-IL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2313432"/>
            <a:ext cx="548640" cy="5486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463040" y="224028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Page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1463040" y="256032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cards (total processed, accuracy, confidence), quality distribution donut chart, interactive confusion matrix, filterable predictions table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457200" y="3246120"/>
            <a:ext cx="822960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15" name="Shape 11"/>
          <p:cNvSpPr/>
          <p:nvPr/>
        </p:nvSpPr>
        <p:spPr>
          <a:xfrm>
            <a:off x="457200" y="3246120"/>
            <a:ext cx="54864" cy="914400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he-IL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3410712"/>
            <a:ext cx="548640" cy="54864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463040" y="333756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Export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1463040" y="365760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CSV with object IDs, labels, confidence scores and results. Auto-named with timestamp for offline analysis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22" name="Text 17"/>
          <p:cNvSpPr/>
          <p:nvPr/>
        </p:nvSpPr>
        <p:spPr>
          <a:xfrm>
            <a:off x="8229600" y="4663440"/>
            <a:ext cx="640080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D5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Application - Admin View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3977640" cy="13258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54864" cy="1325880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he-IL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280160"/>
            <a:ext cx="50292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80160" y="11430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Control Center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280160" y="150876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status, model state, pipeline status, camera health, training/test metrics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709160" y="1051560"/>
            <a:ext cx="3977640" cy="13258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10" name="Shape 7"/>
          <p:cNvSpPr/>
          <p:nvPr/>
        </p:nvSpPr>
        <p:spPr>
          <a:xfrm>
            <a:off x="4709160" y="1051560"/>
            <a:ext cx="54864" cy="1325880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he-IL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1280160"/>
            <a:ext cx="502920" cy="5029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532120" y="11430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Monitor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5532120" y="150876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2x2 grid for 4 cameras with connection status and health indicators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457200" y="2606040"/>
            <a:ext cx="3977640" cy="13258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15" name="Shape 11"/>
          <p:cNvSpPr/>
          <p:nvPr/>
        </p:nvSpPr>
        <p:spPr>
          <a:xfrm>
            <a:off x="457200" y="2606040"/>
            <a:ext cx="54864" cy="1325880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he-IL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2834640"/>
            <a:ext cx="502920" cy="50292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280160" y="26974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Processing Pipeline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1280160" y="306324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6-phase execution: testing, DB setup, preprocessing, extraction, training, evaluation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4709160" y="2606040"/>
            <a:ext cx="3977640" cy="13258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20" name="Shape 15"/>
          <p:cNvSpPr/>
          <p:nvPr/>
        </p:nvSpPr>
        <p:spPr>
          <a:xfrm>
            <a:off x="4709160" y="2606040"/>
            <a:ext cx="54864" cy="1325880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he-IL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2834640"/>
            <a:ext cx="502920" cy="50292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5532120" y="26974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</a:t>
            </a:r>
            <a:endParaRPr lang="en-US" sz="1400" dirty="0"/>
          </a:p>
        </p:txBody>
      </p:sp>
      <p:sp>
        <p:nvSpPr>
          <p:cNvPr id="23" name="Text 17"/>
          <p:cNvSpPr/>
          <p:nvPr/>
        </p:nvSpPr>
        <p:spPr>
          <a:xfrm>
            <a:off x="5532120" y="306324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Hyperparameters, PCA components, dataset paths, DB connection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26" name="Text 20"/>
          <p:cNvSpPr/>
          <p:nvPr/>
        </p:nvSpPr>
        <p:spPr>
          <a:xfrm>
            <a:off x="8229600" y="4663440"/>
            <a:ext cx="640080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D5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&amp; Validation</a:t>
            </a:r>
            <a:endParaRPr lang="en-U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2286000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Phase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Scope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Details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B3A5C"/>
                          </a:solidFill>
                        </a:rPr>
                        <a:t>Phase 1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8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Critical Unit Tests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Preprocessing, DB operations, core functions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B3A5C"/>
                          </a:solidFill>
                        </a:rPr>
                        <a:t>Phase 2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8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ML Pipeline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Feature extraction, PCA, model training validation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B3A5C"/>
                          </a:solidFill>
                        </a:rPr>
                        <a:t>Phase 3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8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Integration Tests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End-to-end pipeline, component interaction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B3A5C"/>
                          </a:solidFill>
                        </a:rPr>
                        <a:t>Phase 4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8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API Testing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Flask endpoints, REST API validation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B3A5C"/>
                          </a:solidFill>
                        </a:rPr>
                        <a:t>Phase 5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8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Frontend Testing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Manual UI testing, responsive design, error handling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520440"/>
            <a:ext cx="192024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6" name="Text 3"/>
          <p:cNvSpPr/>
          <p:nvPr/>
        </p:nvSpPr>
        <p:spPr>
          <a:xfrm>
            <a:off x="457200" y="356616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128+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457200" y="402336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Cases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2606040" y="3520440"/>
            <a:ext cx="192024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9" name="Text 6"/>
          <p:cNvSpPr/>
          <p:nvPr/>
        </p:nvSpPr>
        <p:spPr>
          <a:xfrm>
            <a:off x="2606040" y="356616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2606040" y="402336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Threshold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754880" y="3520440"/>
            <a:ext cx="192024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12" name="Text 9"/>
          <p:cNvSpPr/>
          <p:nvPr/>
        </p:nvSpPr>
        <p:spPr>
          <a:xfrm>
            <a:off x="4754880" y="356616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400" dirty="0"/>
          </a:p>
        </p:txBody>
      </p:sp>
      <p:sp>
        <p:nvSpPr>
          <p:cNvPr id="13" name="Text 10"/>
          <p:cNvSpPr/>
          <p:nvPr/>
        </p:nvSpPr>
        <p:spPr>
          <a:xfrm>
            <a:off x="4754880" y="402336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Phases</a:t>
            </a:r>
            <a:endParaRPr lang="en-US" sz="1100" dirty="0"/>
          </a:p>
        </p:txBody>
      </p:sp>
      <p:sp>
        <p:nvSpPr>
          <p:cNvPr id="4" name="Shape 11"/>
          <p:cNvSpPr/>
          <p:nvPr/>
        </p:nvSpPr>
        <p:spPr>
          <a:xfrm>
            <a:off x="6903720" y="3520440"/>
            <a:ext cx="192024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15" name="Text 12"/>
          <p:cNvSpPr/>
          <p:nvPr/>
        </p:nvSpPr>
        <p:spPr>
          <a:xfrm>
            <a:off x="6903720" y="356616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16" name="Text 13"/>
          <p:cNvSpPr/>
          <p:nvPr/>
        </p:nvSpPr>
        <p:spPr>
          <a:xfrm>
            <a:off x="6903720" y="402336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 Modes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9" name="Text 16"/>
          <p:cNvSpPr/>
          <p:nvPr/>
        </p:nvSpPr>
        <p:spPr>
          <a:xfrm>
            <a:off x="8229600" y="4663440"/>
            <a:ext cx="640080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D5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&amp; Lessons Learned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9601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54864" cy="960120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6" name="Text 4"/>
          <p:cNvSpPr/>
          <p:nvPr/>
        </p:nvSpPr>
        <p:spPr>
          <a:xfrm>
            <a:off x="685800" y="10515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Limitations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85800" y="1307592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</a:t>
            </a: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samples with 200,704 features created extreme curse of dimensionality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150876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Solution: </a:t>
            </a: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Multi-layer regularization (PCA + L2 + dropout) improved accuracy from 53% to 80%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85800" y="170992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Lesson: </a:t>
            </a: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100-200 samples for &gt;80%, 500+ for &gt;90% accuracy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2148840"/>
            <a:ext cx="8229600" cy="9601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11" name="Shape 9"/>
          <p:cNvSpPr/>
          <p:nvPr/>
        </p:nvSpPr>
        <p:spPr>
          <a:xfrm>
            <a:off x="457200" y="2148840"/>
            <a:ext cx="54864" cy="960120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2" name="Text 10"/>
          <p:cNvSpPr/>
          <p:nvPr/>
        </p:nvSpPr>
        <p:spPr>
          <a:xfrm>
            <a:off x="685800" y="21945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Regularization Strategy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85800" y="2450592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</a:t>
            </a: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regularization technique insufficient for extreme feature-to-sample ratio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85800" y="265176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Solution: </a:t>
            </a: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PCA reduction, L2 penalty, dropout, and small architecture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85800" y="285292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Lesson: </a:t>
            </a: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Extreme problems require aggressive, multi-layered solutions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3291840"/>
            <a:ext cx="8229600" cy="9601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17" name="Shape 15"/>
          <p:cNvSpPr/>
          <p:nvPr/>
        </p:nvSpPr>
        <p:spPr>
          <a:xfrm>
            <a:off x="457200" y="3291840"/>
            <a:ext cx="54864" cy="960120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8" name="Text 16"/>
          <p:cNvSpPr/>
          <p:nvPr/>
        </p:nvSpPr>
        <p:spPr>
          <a:xfrm>
            <a:off x="685800" y="33375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Architecture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85800" y="3593592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</a:t>
            </a: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 monolithic design made testing and feature addition risky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85800" y="379476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Solution: </a:t>
            </a: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Refactored to modular blueprint architecture with clear separation of concerns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85800" y="399592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Lesson: </a:t>
            </a: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investment pays dividends throughout development lifecycle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24" name="Text 22"/>
          <p:cNvSpPr/>
          <p:nvPr/>
        </p:nvSpPr>
        <p:spPr>
          <a:xfrm>
            <a:off x="8229600" y="4663440"/>
            <a:ext cx="640080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D5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 &amp; Conclusions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38404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conveyor belt and camera integration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dataset to 200+ fruit samples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additional fruit types (apples, lemons)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deployment on Raspberry Pi 5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continuous processing mode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fine-tuned ShuffleNetV2 with expanded dataset (200+ samples)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846320" y="10058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Conclusions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937760" y="1417320"/>
            <a:ext cx="374904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ShuffleNetV2 validates lightweight CNN approach for CPU deployment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Flask-React-MongoDB stack is robust and maintainable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successfully addresses curse of dimensionality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 accuracy limited by data quantity, not architecture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infrastructure is production-ready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3794760"/>
            <a:ext cx="8229600" cy="64008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9" name="Text 7"/>
          <p:cNvSpPr/>
          <p:nvPr/>
        </p:nvSpPr>
        <p:spPr>
          <a:xfrm>
            <a:off x="640080" y="37947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The system skeleton is validated and production-ready. Accuracy is purely a data quantity issue, not a flaw in code or architecture.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2" name="Text 10"/>
          <p:cNvSpPr/>
          <p:nvPr/>
        </p:nvSpPr>
        <p:spPr>
          <a:xfrm>
            <a:off x="8229600" y="4663440"/>
            <a:ext cx="640080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D5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27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" name="Shape 1"/>
          <p:cNvSpPr/>
          <p:nvPr/>
        </p:nvSpPr>
        <p:spPr>
          <a:xfrm>
            <a:off x="0" y="731520"/>
            <a:ext cx="73152" cy="1828800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16002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D5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48640" y="2240280"/>
            <a:ext cx="1828800" cy="27432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8" name="Shape 6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he-IL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</TotalTime>
  <Words>1237</Words>
  <Application>Microsoft Office PowerPoint</Application>
  <PresentationFormat>On-screen Show (16:9)</PresentationFormat>
  <Paragraphs>288</Paragraphs>
  <Slides>17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Real-Time Fruit Grading Using Data Mining and Machine Learning</dc:title>
  <dc:subject>PptxGenJS Presentation</dc:subject>
  <dc:creator>Dror Hershcovish &amp; Lidor Anfinger</dc:creator>
  <cp:lastModifiedBy>דרור הרשקוביץ</cp:lastModifiedBy>
  <cp:revision>4</cp:revision>
  <dcterms:created xsi:type="dcterms:W3CDTF">2026-02-17T07:18:07Z</dcterms:created>
  <dcterms:modified xsi:type="dcterms:W3CDTF">2026-02-24T07:53:14Z</dcterms:modified>
</cp:coreProperties>
</file>